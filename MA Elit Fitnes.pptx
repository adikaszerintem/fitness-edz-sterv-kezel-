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fcf53329-da28-9505-bb54-d24adf25f953}">
          <p14:sldIdLst>
            <p14:sldId id="256"/>
            <p14:sldId id="257"/>
          </p14:sldIdLst>
        </p14:section>
        <p14:section name="A projekt" id="{7336db73-3f81-6527-fc41-c87939130884}">
          <p14:sldIdLst>
            <p14:sldId id="258"/>
            <p14:sldId id="259"/>
            <p14:sldId id="260"/>
            <p14:sldId id="261"/>
          </p14:sldIdLst>
        </p14:section>
        <p14:section name="Tapasztalatok" id="{becc4149-cb45-1f7e-3c84-98317905afcc}">
          <p14:sldIdLst>
            <p14:sldId id="262"/>
            <p14:sldId id="263"/>
          </p14:sldIdLst>
        </p14:section>
        <p14:section name="Zárás" id="{50f0db1e-f75a-4f87-0831-d36a17bb8f3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FFFFFF"/>
                </a:solidFill>
                <a:latin typeface="+mn-lt"/>
              </a:rPr>
              <a:t>Ráfordított órák hetente (becsült)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Tervezés (Figma)</c:v>
                </c:pt>
              </c:strCache>
            </c:strRef>
          </c:tx>
          <c:spPr>
            <a:solidFill>
              <a:srgbClr val="C8F03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1. hét</c:v>
                  </c:pt>
                  <c:pt idx="1">
                    <c:v>2. hét</c:v>
                  </c:pt>
                  <c:pt idx="2">
                    <c:v>3. hét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HTML és CSS</c:v>
                </c:pt>
              </c:strCache>
            </c:strRef>
          </c:tx>
          <c:spPr>
            <a:solidFill>
              <a:srgbClr val="FF6B2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1. hét</c:v>
                  </c:pt>
                  <c:pt idx="1">
                    <c:v>2. hét</c:v>
                  </c:pt>
                  <c:pt idx="2">
                    <c:v>3. hét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JavaScript</c:v>
                </c:pt>
              </c:strCache>
            </c:strRef>
          </c:tx>
          <c:spPr>
            <a:solidFill>
              <a:srgbClr val="3FA7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1. hét</c:v>
                  </c:pt>
                  <c:pt idx="1">
                    <c:v>2. hét</c:v>
                  </c:pt>
                  <c:pt idx="2">
                    <c:v>3. hét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B8BFC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3A404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B8BFC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B8BFCA"/>
                    </a:solidFill>
                    <a:latin typeface="+mn-lt"/>
                  </a:rPr>
                  <a:t>Órák száma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BFC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FFFFFF"/>
                </a:solidFill>
                <a:latin typeface="+mn-lt"/>
              </a:rPr>
              <a:t>Mennyi a saját kód, és mennyi az AI?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Saját kód</c:v>
                </c:pt>
              </c:strCache>
            </c:strRef>
          </c:tx>
          <c:spPr>
            <a:solidFill>
              <a:srgbClr val="C8F03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4171C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Projektkód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kód</c:v>
                </c:pt>
              </c:strCache>
            </c:strRef>
          </c:tx>
          <c:spPr>
            <a:solidFill>
              <a:srgbClr val="FF6B2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4171C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Projektkód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2000" u="none">
                  <a:solidFill>
                    <a:srgbClr val="14171C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A404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BFC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6400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291840"/>
            <a:ext cx="1072591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MA </a:t>
            </a:r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Elitt Fitness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Készítette: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Molnár Milán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Vincze Ádám</a:t>
            </a:r>
            <a:endParaRPr lang="en-US" sz="2200" dirty="0"/>
          </a:p>
        </p:txBody>
      </p:sp>
      <p:sp>
        <p:nvSpPr>
          <p:cNvPr id="4" name="Címlap kör"/>
          <p:cNvSpPr/>
          <p:nvPr/>
        </p:nvSpPr>
        <p:spPr>
          <a:xfrm>
            <a:off x="7955280" y="1280160"/>
            <a:ext cx="3840480" cy="3840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úlyzó ikon" descr="Súlyzó 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2402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Tartalom</a:t>
            </a:r>
            <a:endParaRPr lang="en-US" sz="3600" dirty="0"/>
          </a:p>
        </p:txBody>
      </p:sp>
      <p:sp>
        <p:nvSpPr>
          <p:cNvPr id="3" name="Tartalom kártya 1"/>
          <p:cNvSpPr/>
          <p:nvPr/>
        </p:nvSpPr>
        <p:spPr>
          <a:xfrm>
            <a:off x="640080" y="1554480"/>
            <a:ext cx="345643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4" name="Sorszám kör 1"/>
          <p:cNvSpPr/>
          <p:nvPr/>
        </p:nvSpPr>
        <p:spPr>
          <a:xfrm>
            <a:off x="91440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orszám 1"/>
          <p:cNvSpPr txBox="1"/>
          <p:nvPr/>
        </p:nvSpPr>
        <p:spPr>
          <a:xfrm>
            <a:off x="91440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artalom címke 1"/>
          <p:cNvSpPr txBox="1"/>
          <p:nvPr/>
        </p:nvSpPr>
        <p:spPr>
          <a:xfrm>
            <a:off x="1783080" y="173736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Bevezetés</a:t>
            </a:r>
            <a:endParaRPr lang="en-US" sz="1800" dirty="0"/>
          </a:p>
        </p:txBody>
      </p:sp>
      <p:sp>
        <p:nvSpPr>
          <p:cNvPr id="7" name="Tartalom kártya 2"/>
          <p:cNvSpPr/>
          <p:nvPr/>
        </p:nvSpPr>
        <p:spPr>
          <a:xfrm>
            <a:off x="4366260" y="1554480"/>
            <a:ext cx="345643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8" name="Sorszám kör 2"/>
          <p:cNvSpPr/>
          <p:nvPr/>
        </p:nvSpPr>
        <p:spPr>
          <a:xfrm>
            <a:off x="464058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orszám 2"/>
          <p:cNvSpPr txBox="1"/>
          <p:nvPr/>
        </p:nvSpPr>
        <p:spPr>
          <a:xfrm>
            <a:off x="46405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artalom címke 2"/>
          <p:cNvSpPr txBox="1"/>
          <p:nvPr/>
        </p:nvSpPr>
        <p:spPr>
          <a:xfrm>
            <a:off x="5509260" y="173736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Tartalomjegyzék</a:t>
            </a:r>
            <a:endParaRPr lang="en-US" sz="1800" dirty="0"/>
          </a:p>
        </p:txBody>
      </p:sp>
      <p:sp>
        <p:nvSpPr>
          <p:cNvPr id="11" name="Tartalom kártya 3"/>
          <p:cNvSpPr/>
          <p:nvPr/>
        </p:nvSpPr>
        <p:spPr>
          <a:xfrm>
            <a:off x="8092440" y="1554480"/>
            <a:ext cx="345643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2" name="Sorszám kör 3"/>
          <p:cNvSpPr/>
          <p:nvPr/>
        </p:nvSpPr>
        <p:spPr>
          <a:xfrm>
            <a:off x="836676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orszám 3"/>
          <p:cNvSpPr txBox="1"/>
          <p:nvPr/>
        </p:nvSpPr>
        <p:spPr>
          <a:xfrm>
            <a:off x="83667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artalom címke 3"/>
          <p:cNvSpPr txBox="1"/>
          <p:nvPr/>
        </p:nvSpPr>
        <p:spPr>
          <a:xfrm>
            <a:off x="9235440" y="173736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Munkamegosztás</a:t>
            </a:r>
            <a:endParaRPr lang="en-US" sz="1800" dirty="0"/>
          </a:p>
        </p:txBody>
      </p:sp>
      <p:sp>
        <p:nvSpPr>
          <p:cNvPr id="15" name="Tartalom kártya 4"/>
          <p:cNvSpPr/>
          <p:nvPr/>
        </p:nvSpPr>
        <p:spPr>
          <a:xfrm>
            <a:off x="640080" y="3154680"/>
            <a:ext cx="345643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6" name="Sorszám kör 4"/>
          <p:cNvSpPr/>
          <p:nvPr/>
        </p:nvSpPr>
        <p:spPr>
          <a:xfrm>
            <a:off x="914400" y="34747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orszám 4"/>
          <p:cNvSpPr txBox="1"/>
          <p:nvPr/>
        </p:nvSpPr>
        <p:spPr>
          <a:xfrm>
            <a:off x="914400" y="3474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artalom címke 4"/>
          <p:cNvSpPr txBox="1"/>
          <p:nvPr/>
        </p:nvSpPr>
        <p:spPr>
          <a:xfrm>
            <a:off x="1783080" y="333756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Három hét munkája</a:t>
            </a:r>
            <a:endParaRPr lang="en-US" sz="1800" dirty="0"/>
          </a:p>
        </p:txBody>
      </p:sp>
      <p:sp>
        <p:nvSpPr>
          <p:cNvPr id="19" name="Tartalom kártya 5"/>
          <p:cNvSpPr/>
          <p:nvPr/>
        </p:nvSpPr>
        <p:spPr>
          <a:xfrm>
            <a:off x="4366260" y="3154680"/>
            <a:ext cx="345643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20" name="Sorszám kör 5"/>
          <p:cNvSpPr/>
          <p:nvPr/>
        </p:nvSpPr>
        <p:spPr>
          <a:xfrm>
            <a:off x="4640580" y="34747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orszám 5"/>
          <p:cNvSpPr txBox="1"/>
          <p:nvPr/>
        </p:nvSpPr>
        <p:spPr>
          <a:xfrm>
            <a:off x="4640580" y="3474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</a:t>
            </a:r>
            <a:endParaRPr lang="en-US" sz="2400" dirty="0"/>
          </a:p>
        </p:txBody>
      </p:sp>
      <p:sp>
        <p:nvSpPr>
          <p:cNvPr id="22" name="Tartalom címke 5"/>
          <p:cNvSpPr txBox="1"/>
          <p:nvPr/>
        </p:nvSpPr>
        <p:spPr>
          <a:xfrm>
            <a:off x="5509260" y="333756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Felhasznált eszközök (források)</a:t>
            </a:r>
            <a:endParaRPr lang="en-US" sz="1800" dirty="0"/>
          </a:p>
        </p:txBody>
      </p:sp>
      <p:sp>
        <p:nvSpPr>
          <p:cNvPr id="23" name="Tartalom kártya 6"/>
          <p:cNvSpPr/>
          <p:nvPr/>
        </p:nvSpPr>
        <p:spPr>
          <a:xfrm>
            <a:off x="8092440" y="3154680"/>
            <a:ext cx="345643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24" name="Sorszám kör 6"/>
          <p:cNvSpPr/>
          <p:nvPr/>
        </p:nvSpPr>
        <p:spPr>
          <a:xfrm>
            <a:off x="8366760" y="34747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Sorszám 6"/>
          <p:cNvSpPr txBox="1"/>
          <p:nvPr/>
        </p:nvSpPr>
        <p:spPr>
          <a:xfrm>
            <a:off x="8366760" y="3474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6</a:t>
            </a:r>
            <a:endParaRPr lang="en-US" sz="2400" dirty="0"/>
          </a:p>
        </p:txBody>
      </p:sp>
      <p:sp>
        <p:nvSpPr>
          <p:cNvPr id="26" name="Tartalom címke 6"/>
          <p:cNvSpPr txBox="1"/>
          <p:nvPr/>
        </p:nvSpPr>
        <p:spPr>
          <a:xfrm>
            <a:off x="9235440" y="333756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Mire használtuk az AI-t</a:t>
            </a:r>
            <a:endParaRPr lang="en-US" sz="1800" dirty="0"/>
          </a:p>
        </p:txBody>
      </p:sp>
      <p:sp>
        <p:nvSpPr>
          <p:cNvPr id="27" name="Tartalom kártya 7"/>
          <p:cNvSpPr/>
          <p:nvPr/>
        </p:nvSpPr>
        <p:spPr>
          <a:xfrm>
            <a:off x="640080" y="4754880"/>
            <a:ext cx="345643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28" name="Sorszám kör 7"/>
          <p:cNvSpPr/>
          <p:nvPr/>
        </p:nvSpPr>
        <p:spPr>
          <a:xfrm>
            <a:off x="914400" y="5074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orszám 7"/>
          <p:cNvSpPr txBox="1"/>
          <p:nvPr/>
        </p:nvSpPr>
        <p:spPr>
          <a:xfrm>
            <a:off x="91440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7</a:t>
            </a:r>
            <a:endParaRPr lang="en-US" sz="2400" dirty="0"/>
          </a:p>
        </p:txBody>
      </p:sp>
      <p:sp>
        <p:nvSpPr>
          <p:cNvPr id="30" name="Tartalom címke 7"/>
          <p:cNvSpPr txBox="1"/>
          <p:nvPr/>
        </p:nvSpPr>
        <p:spPr>
          <a:xfrm>
            <a:off x="1783080" y="493776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Csapatmunka tapasztalatai</a:t>
            </a:r>
            <a:endParaRPr lang="en-US" sz="1800" dirty="0"/>
          </a:p>
        </p:txBody>
      </p:sp>
      <p:sp>
        <p:nvSpPr>
          <p:cNvPr id="31" name="Tartalom kártya 8"/>
          <p:cNvSpPr/>
          <p:nvPr/>
        </p:nvSpPr>
        <p:spPr>
          <a:xfrm>
            <a:off x="4366260" y="4754880"/>
            <a:ext cx="345643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32" name="Sorszám kör 8"/>
          <p:cNvSpPr/>
          <p:nvPr/>
        </p:nvSpPr>
        <p:spPr>
          <a:xfrm>
            <a:off x="4640580" y="5074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Sorszám 8"/>
          <p:cNvSpPr txBox="1"/>
          <p:nvPr/>
        </p:nvSpPr>
        <p:spPr>
          <a:xfrm>
            <a:off x="464058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8</a:t>
            </a:r>
            <a:endParaRPr lang="en-US" sz="2400" dirty="0"/>
          </a:p>
        </p:txBody>
      </p:sp>
      <p:sp>
        <p:nvSpPr>
          <p:cNvPr id="34" name="Tartalom címke 8"/>
          <p:cNvSpPr txBox="1"/>
          <p:nvPr/>
        </p:nvSpPr>
        <p:spPr>
          <a:xfrm>
            <a:off x="5509260" y="493776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Egységtesztek tapasztalatai</a:t>
            </a:r>
            <a:endParaRPr lang="en-US" sz="1800" dirty="0"/>
          </a:p>
        </p:txBody>
      </p:sp>
      <p:sp>
        <p:nvSpPr>
          <p:cNvPr id="35" name="Tartalom kártya 9"/>
          <p:cNvSpPr/>
          <p:nvPr/>
        </p:nvSpPr>
        <p:spPr>
          <a:xfrm>
            <a:off x="8092440" y="4754880"/>
            <a:ext cx="345643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36" name="Sorszám kör 9"/>
          <p:cNvSpPr/>
          <p:nvPr/>
        </p:nvSpPr>
        <p:spPr>
          <a:xfrm>
            <a:off x="8366760" y="5074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Sorszám 9"/>
          <p:cNvSpPr txBox="1"/>
          <p:nvPr/>
        </p:nvSpPr>
        <p:spPr>
          <a:xfrm>
            <a:off x="836676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9</a:t>
            </a:r>
            <a:endParaRPr lang="en-US" sz="2400" dirty="0"/>
          </a:p>
        </p:txBody>
      </p:sp>
      <p:sp>
        <p:nvSpPr>
          <p:cNvPr id="38" name="Tartalom címke 9"/>
          <p:cNvSpPr txBox="1"/>
          <p:nvPr/>
        </p:nvSpPr>
        <p:spPr>
          <a:xfrm>
            <a:off x="9235440" y="4937760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Köszönjük a figyelmet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Munkamegosztás</a:t>
            </a:r>
            <a:endParaRPr lang="en-US" sz="3600" dirty="0"/>
          </a:p>
        </p:txBody>
      </p:sp>
      <p:sp>
        <p:nvSpPr>
          <p:cNvPr id="3" name="Bevezető szöveg"/>
          <p:cNvSpPr txBox="1"/>
          <p:nvPr/>
        </p:nvSpPr>
        <p:spPr>
          <a:xfrm>
            <a:off x="640080" y="11887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projektet ketten készítettük. A Figma, a CSS és a JavaScript mindkettőnknek közös feladat volt, emellett mindenkinek megvolt a saját területe.</a:t>
            </a:r>
            <a:endParaRPr lang="en-US" sz="1600" dirty="0"/>
          </a:p>
        </p:txBody>
      </p:sp>
      <p:sp>
        <p:nvSpPr>
          <p:cNvPr id="4" name="Vincze Ádám kártya"/>
          <p:cNvSpPr/>
          <p:nvPr/>
        </p:nvSpPr>
        <p:spPr>
          <a:xfrm>
            <a:off x="640080" y="2011680"/>
            <a:ext cx="530352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5" name="Vincze Ádám ikon kör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C8F031"/>
          </a:solidFill>
          <a:ln/>
        </p:spPr>
      </p:sp>
      <p:pic>
        <p:nvPicPr>
          <p:cNvPr id="6" name="Vincze Ádám ikon" descr="Vincze Ádám 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446020"/>
            <a:ext cx="320040" cy="320040"/>
          </a:xfrm>
          <a:prstGeom prst="rect">
            <a:avLst/>
          </a:prstGeom>
        </p:spPr>
      </p:pic>
      <p:sp>
        <p:nvSpPr>
          <p:cNvPr id="7" name="Vincze Ádám név"/>
          <p:cNvSpPr txBox="1"/>
          <p:nvPr/>
        </p:nvSpPr>
        <p:spPr>
          <a:xfrm>
            <a:off x="1783080" y="2286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Vincze Ádám</a:t>
            </a:r>
            <a:endParaRPr lang="en-US" sz="2600" dirty="0"/>
          </a:p>
        </p:txBody>
      </p:sp>
      <p:sp>
        <p:nvSpPr>
          <p:cNvPr id="8" name="Vincze Ádám feladatok"/>
          <p:cNvSpPr txBox="1"/>
          <p:nvPr/>
        </p:nvSpPr>
        <p:spPr>
          <a:xfrm>
            <a:off x="1051560" y="320040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HTML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Figma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CSS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JavaScript – edzes.js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GitHub</a:t>
            </a:r>
            <a:endParaRPr lang="en-US" sz="1800" dirty="0"/>
          </a:p>
        </p:txBody>
      </p:sp>
      <p:sp>
        <p:nvSpPr>
          <p:cNvPr id="9" name="Molnár Milán kártya"/>
          <p:cNvSpPr/>
          <p:nvPr/>
        </p:nvSpPr>
        <p:spPr>
          <a:xfrm>
            <a:off x="6245352" y="2011680"/>
            <a:ext cx="530352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0" name="Molnár Milán ikon kör"/>
          <p:cNvSpPr/>
          <p:nvPr/>
        </p:nvSpPr>
        <p:spPr>
          <a:xfrm>
            <a:off x="6565392" y="2286000"/>
            <a:ext cx="640080" cy="64008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1" name="Molnár Milán ikon" descr="Molnár Milán 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412" y="2446020"/>
            <a:ext cx="320040" cy="320040"/>
          </a:xfrm>
          <a:prstGeom prst="rect">
            <a:avLst/>
          </a:prstGeom>
        </p:spPr>
      </p:pic>
      <p:sp>
        <p:nvSpPr>
          <p:cNvPr id="12" name="Molnár Milán név"/>
          <p:cNvSpPr txBox="1"/>
          <p:nvPr/>
        </p:nvSpPr>
        <p:spPr>
          <a:xfrm>
            <a:off x="7388352" y="2286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Molnár Milán</a:t>
            </a:r>
            <a:endParaRPr lang="en-US" sz="2600" dirty="0"/>
          </a:p>
        </p:txBody>
      </p:sp>
      <p:sp>
        <p:nvSpPr>
          <p:cNvPr id="13" name="Molnár Milán feladatok"/>
          <p:cNvSpPr txBox="1"/>
          <p:nvPr/>
        </p:nvSpPr>
        <p:spPr>
          <a:xfrm>
            <a:off x="6656832" y="320040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PPT (prezentáció)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Figma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CSS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JavaScript – profil.js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Trello</a:t>
            </a:r>
            <a:endParaRPr lang="en-US" sz="1800" dirty="0"/>
          </a:p>
        </p:txBody>
      </p:sp>
      <p:sp>
        <p:nvSpPr>
          <p:cNvPr id="14" name="Közös feladat sáv"/>
          <p:cNvSpPr/>
          <p:nvPr/>
        </p:nvSpPr>
        <p:spPr>
          <a:xfrm>
            <a:off x="640080" y="5806440"/>
            <a:ext cx="10908792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15" name="Közös feladat szöveg"/>
          <p:cNvSpPr txBox="1"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Közös feladat: Figma, CSS, JavaScript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Három hét munkája</a:t>
            </a:r>
            <a:endParaRPr lang="en-US" sz="3600" dirty="0"/>
          </a:p>
        </p:txBody>
      </p:sp>
      <p:sp>
        <p:nvSpPr>
          <p:cNvPr id="3" name="Alcím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Mivel mennyit foglalkoztunk? A három hét során ennyi órát fordítottunk az egyes részekre (becsült érték).</a:t>
            </a:r>
            <a:endParaRPr lang="en-US" sz="1600" dirty="0"/>
          </a:p>
        </p:txBody>
      </p:sp>
      <p:sp>
        <p:nvSpPr>
          <p:cNvPr id="4" name="1. hét kártya"/>
          <p:cNvSpPr/>
          <p:nvPr/>
        </p:nvSpPr>
        <p:spPr>
          <a:xfrm>
            <a:off x="640080" y="1783080"/>
            <a:ext cx="4297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1. hét cím"/>
          <p:cNvSpPr txBox="1"/>
          <p:nvPr/>
        </p:nvSpPr>
        <p:spPr>
          <a:xfrm>
            <a:off x="914400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1. hét</a:t>
            </a:r>
            <a:endParaRPr lang="en-US" sz="1800" dirty="0"/>
          </a:p>
        </p:txBody>
      </p:sp>
      <p:sp>
        <p:nvSpPr>
          <p:cNvPr id="6" name="1. hét feladatok"/>
          <p:cNvSpPr txBox="1"/>
          <p:nvPr/>
        </p:nvSpPr>
        <p:spPr>
          <a:xfrm>
            <a:off x="914400" y="2286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Tervezés Figmában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Feladatok a Trellóban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Az oldal alapjai</a:t>
            </a:r>
            <a:endParaRPr lang="en-US" sz="1400" dirty="0"/>
          </a:p>
        </p:txBody>
      </p:sp>
      <p:sp>
        <p:nvSpPr>
          <p:cNvPr id="7" name="2. hét kártya"/>
          <p:cNvSpPr/>
          <p:nvPr/>
        </p:nvSpPr>
        <p:spPr>
          <a:xfrm>
            <a:off x="640080" y="3291840"/>
            <a:ext cx="4297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2. hét cím"/>
          <p:cNvSpPr txBox="1"/>
          <p:nvPr/>
        </p:nvSpPr>
        <p:spPr>
          <a:xfrm>
            <a:off x="91440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2. hét</a:t>
            </a:r>
            <a:endParaRPr lang="en-US" sz="1800" dirty="0"/>
          </a:p>
        </p:txBody>
      </p:sp>
      <p:sp>
        <p:nvSpPr>
          <p:cNvPr id="9" name="2. hét feladatok"/>
          <p:cNvSpPr txBox="1"/>
          <p:nvPr/>
        </p:nvSpPr>
        <p:spPr>
          <a:xfrm>
            <a:off x="914400" y="3794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HTML és CSS kidolgozása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Bootstrap használata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JavaScript elkezdése</a:t>
            </a:r>
            <a:endParaRPr lang="en-US" sz="1400" dirty="0"/>
          </a:p>
        </p:txBody>
      </p:sp>
      <p:sp>
        <p:nvSpPr>
          <p:cNvPr id="10" name="3. hét kártya"/>
          <p:cNvSpPr/>
          <p:nvPr/>
        </p:nvSpPr>
        <p:spPr>
          <a:xfrm>
            <a:off x="640080" y="4800600"/>
            <a:ext cx="4297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1" name="3. hét cím"/>
          <p:cNvSpPr txBox="1"/>
          <p:nvPr/>
        </p:nvSpPr>
        <p:spPr>
          <a:xfrm>
            <a:off x="914400" y="4910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3. hét</a:t>
            </a:r>
            <a:endParaRPr lang="en-US" sz="1800" dirty="0"/>
          </a:p>
        </p:txBody>
      </p:sp>
      <p:sp>
        <p:nvSpPr>
          <p:cNvPr id="12" name="3. hét feladatok"/>
          <p:cNvSpPr txBox="1"/>
          <p:nvPr/>
        </p:nvSpPr>
        <p:spPr>
          <a:xfrm>
            <a:off x="914400" y="5303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JavaScript (edzes, profil)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Egységtesztek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Hibajavítás, prezentáció</a:t>
            </a:r>
            <a:endParaRPr lang="en-US" sz="1400" dirty="0"/>
          </a:p>
        </p:txBody>
      </p:sp>
      <p:sp>
        <p:nvSpPr>
          <p:cNvPr id="13" name="Diagram kártya"/>
          <p:cNvSpPr/>
          <p:nvPr/>
        </p:nvSpPr>
        <p:spPr>
          <a:xfrm>
            <a:off x="5212080" y="1783080"/>
            <a:ext cx="6336792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/>
        </p:spPr>
      </p:sp>
      <p:graphicFrame>
        <p:nvGraphicFramePr>
          <p:cNvPr id="14" name="Órák diagram" descr=""/>
          <p:cNvGraphicFramePr/>
          <p:nvPr/>
        </p:nvGraphicFramePr>
        <p:xfrm>
          <a:off x="5349240" y="1874520"/>
          <a:ext cx="6062472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Felhasznált eszközök (források)</a:t>
            </a:r>
            <a:endParaRPr lang="en-US" sz="3600" dirty="0"/>
          </a:p>
        </p:txBody>
      </p:sp>
      <p:sp>
        <p:nvSpPr>
          <p:cNvPr id="3" name="Alcím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Az oldal elkészítéséhez ezeket az eszközöket és weboldalakat használtuk.</a:t>
            </a:r>
            <a:endParaRPr lang="en-US" sz="1600" dirty="0"/>
          </a:p>
        </p:txBody>
      </p:sp>
      <p:sp>
        <p:nvSpPr>
          <p:cNvPr id="4" name="ChatGPT kártya"/>
          <p:cNvSpPr/>
          <p:nvPr/>
        </p:nvSpPr>
        <p:spPr>
          <a:xfrm>
            <a:off x="640080" y="2011680"/>
            <a:ext cx="2523744" cy="30175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5" name="ChatGPT ikon kör"/>
          <p:cNvSpPr/>
          <p:nvPr/>
        </p:nvSpPr>
        <p:spPr>
          <a:xfrm>
            <a:off x="960120" y="2377440"/>
            <a:ext cx="1005840" cy="1005840"/>
          </a:xfrm>
          <a:prstGeom prst="ellipse">
            <a:avLst/>
          </a:prstGeom>
          <a:solidFill>
            <a:srgbClr val="C8F031"/>
          </a:solidFill>
          <a:ln/>
        </p:spPr>
      </p:sp>
      <p:pic>
        <p:nvPicPr>
          <p:cNvPr id="6" name="ChatGPT ikon" descr="ChatGPT 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628900"/>
            <a:ext cx="502920" cy="502920"/>
          </a:xfrm>
          <a:prstGeom prst="rect">
            <a:avLst/>
          </a:prstGeom>
        </p:spPr>
      </p:pic>
      <p:sp>
        <p:nvSpPr>
          <p:cNvPr id="7" name="ChatGPT név"/>
          <p:cNvSpPr txBox="1"/>
          <p:nvPr/>
        </p:nvSpPr>
        <p:spPr>
          <a:xfrm>
            <a:off x="960120" y="36576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ChatGPT</a:t>
            </a:r>
            <a:endParaRPr lang="en-US" sz="2200" dirty="0"/>
          </a:p>
        </p:txBody>
      </p:sp>
      <p:sp>
        <p:nvSpPr>
          <p:cNvPr id="8" name="ChatGPT leírás"/>
          <p:cNvSpPr txBox="1"/>
          <p:nvPr/>
        </p:nvSpPr>
        <p:spPr>
          <a:xfrm>
            <a:off x="960120" y="420624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Segítséget kértünk</a:t>
            </a:r>
            <a:endParaRPr lang="en-US" sz="1600" dirty="0"/>
          </a:p>
        </p:txBody>
      </p:sp>
      <p:sp>
        <p:nvSpPr>
          <p:cNvPr id="9" name="CSS Gradient kártya"/>
          <p:cNvSpPr/>
          <p:nvPr/>
        </p:nvSpPr>
        <p:spPr>
          <a:xfrm>
            <a:off x="3438144" y="2011680"/>
            <a:ext cx="2523744" cy="30175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0" name="CSS Gradient ikon kör"/>
          <p:cNvSpPr/>
          <p:nvPr/>
        </p:nvSpPr>
        <p:spPr>
          <a:xfrm>
            <a:off x="3758184" y="2377440"/>
            <a:ext cx="1005840" cy="100584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1" name="CSS Gradient ikon" descr="CSS Gradient 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644" y="2628900"/>
            <a:ext cx="502920" cy="502920"/>
          </a:xfrm>
          <a:prstGeom prst="rect">
            <a:avLst/>
          </a:prstGeom>
        </p:spPr>
      </p:pic>
      <p:sp>
        <p:nvSpPr>
          <p:cNvPr id="12" name="CSS Gradient név"/>
          <p:cNvSpPr txBox="1"/>
          <p:nvPr/>
        </p:nvSpPr>
        <p:spPr>
          <a:xfrm>
            <a:off x="3758184" y="36576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CSS Gradient</a:t>
            </a:r>
            <a:endParaRPr lang="en-US" sz="2200" dirty="0"/>
          </a:p>
        </p:txBody>
      </p:sp>
      <p:sp>
        <p:nvSpPr>
          <p:cNvPr id="13" name="CSS Gradient leírás"/>
          <p:cNvSpPr txBox="1"/>
          <p:nvPr/>
        </p:nvSpPr>
        <p:spPr>
          <a:xfrm>
            <a:off x="3758184" y="420624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Gradient háttér</a:t>
            </a:r>
            <a:endParaRPr lang="en-US" sz="1600" dirty="0"/>
          </a:p>
        </p:txBody>
      </p:sp>
      <p:sp>
        <p:nvSpPr>
          <p:cNvPr id="14" name="Bootstrap kártya"/>
          <p:cNvSpPr/>
          <p:nvPr/>
        </p:nvSpPr>
        <p:spPr>
          <a:xfrm>
            <a:off x="6236208" y="2011680"/>
            <a:ext cx="2523744" cy="30175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5" name="Bootstrap ikon kör"/>
          <p:cNvSpPr/>
          <p:nvPr/>
        </p:nvSpPr>
        <p:spPr>
          <a:xfrm>
            <a:off x="6556248" y="2377440"/>
            <a:ext cx="1005840" cy="1005840"/>
          </a:xfrm>
          <a:prstGeom prst="ellipse">
            <a:avLst/>
          </a:prstGeom>
          <a:solidFill>
            <a:srgbClr val="3FA7D6"/>
          </a:solidFill>
          <a:ln/>
        </p:spPr>
      </p:sp>
      <p:pic>
        <p:nvPicPr>
          <p:cNvPr id="16" name="Bootstrap ikon" descr="Bootstrap 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2628900"/>
            <a:ext cx="502920" cy="502920"/>
          </a:xfrm>
          <a:prstGeom prst="rect">
            <a:avLst/>
          </a:prstGeom>
        </p:spPr>
      </p:pic>
      <p:sp>
        <p:nvSpPr>
          <p:cNvPr id="17" name="Bootstrap név"/>
          <p:cNvSpPr txBox="1"/>
          <p:nvPr/>
        </p:nvSpPr>
        <p:spPr>
          <a:xfrm>
            <a:off x="6556248" y="36576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Bootstrap</a:t>
            </a:r>
            <a:endParaRPr lang="en-US" sz="2200" dirty="0"/>
          </a:p>
        </p:txBody>
      </p:sp>
      <p:sp>
        <p:nvSpPr>
          <p:cNvPr id="18" name="Bootstrap leírás"/>
          <p:cNvSpPr txBox="1"/>
          <p:nvPr/>
        </p:nvSpPr>
        <p:spPr>
          <a:xfrm>
            <a:off x="6556248" y="420624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Reszponzív elrendezés</a:t>
            </a:r>
            <a:endParaRPr lang="en-US" sz="1600" dirty="0"/>
          </a:p>
        </p:txBody>
      </p:sp>
      <p:sp>
        <p:nvSpPr>
          <p:cNvPr id="19" name="Fitness oldalak kártya"/>
          <p:cNvSpPr/>
          <p:nvPr/>
        </p:nvSpPr>
        <p:spPr>
          <a:xfrm>
            <a:off x="9034272" y="2011680"/>
            <a:ext cx="2523744" cy="30175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20" name="Fitness oldalak ikon kör"/>
          <p:cNvSpPr/>
          <p:nvPr/>
        </p:nvSpPr>
        <p:spPr>
          <a:xfrm>
            <a:off x="9354312" y="2377440"/>
            <a:ext cx="1005840" cy="1005840"/>
          </a:xfrm>
          <a:prstGeom prst="ellipse">
            <a:avLst/>
          </a:prstGeom>
          <a:solidFill>
            <a:srgbClr val="C8F031"/>
          </a:solidFill>
          <a:ln/>
        </p:spPr>
      </p:sp>
      <p:pic>
        <p:nvPicPr>
          <p:cNvPr id="21" name="Fitness oldalak ikon" descr="Fitness oldalak 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772" y="2628900"/>
            <a:ext cx="502920" cy="502920"/>
          </a:xfrm>
          <a:prstGeom prst="rect">
            <a:avLst/>
          </a:prstGeom>
        </p:spPr>
      </p:pic>
      <p:sp>
        <p:nvSpPr>
          <p:cNvPr id="22" name="Fitness oldalak név"/>
          <p:cNvSpPr txBox="1"/>
          <p:nvPr/>
        </p:nvSpPr>
        <p:spPr>
          <a:xfrm>
            <a:off x="9354312" y="365760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Fitness oldalak</a:t>
            </a:r>
            <a:endParaRPr lang="en-US" sz="2200" dirty="0"/>
          </a:p>
        </p:txBody>
      </p:sp>
      <p:sp>
        <p:nvSpPr>
          <p:cNvPr id="23" name="Fitness oldalak leírás"/>
          <p:cNvSpPr txBox="1"/>
          <p:nvPr/>
        </p:nvSpPr>
        <p:spPr>
          <a:xfrm>
            <a:off x="9354312" y="420624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Inspiráció, tartalom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Mire használtuk az AI-t?</a:t>
            </a:r>
            <a:endParaRPr lang="en-US" sz="3600" dirty="0"/>
          </a:p>
        </p:txBody>
      </p:sp>
      <p:sp>
        <p:nvSpPr>
          <p:cNvPr id="3" name="mobil.css kártya"/>
          <p:cNvSpPr/>
          <p:nvPr/>
        </p:nvSpPr>
        <p:spPr>
          <a:xfrm>
            <a:off x="640080" y="1371600"/>
            <a:ext cx="3456432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4" name="mobil.css ikon kör"/>
          <p:cNvSpPr/>
          <p:nvPr/>
        </p:nvSpPr>
        <p:spPr>
          <a:xfrm>
            <a:off x="914400" y="1600200"/>
            <a:ext cx="640080" cy="640080"/>
          </a:xfrm>
          <a:prstGeom prst="ellipse">
            <a:avLst/>
          </a:prstGeom>
          <a:solidFill>
            <a:srgbClr val="C8F031"/>
          </a:solidFill>
          <a:ln/>
        </p:spPr>
      </p:sp>
      <p:pic>
        <p:nvPicPr>
          <p:cNvPr id="5" name="mobil.css ikon" descr="mobil.css 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760220"/>
            <a:ext cx="320040" cy="320040"/>
          </a:xfrm>
          <a:prstGeom prst="rect">
            <a:avLst/>
          </a:prstGeom>
        </p:spPr>
      </p:pic>
      <p:sp>
        <p:nvSpPr>
          <p:cNvPr id="6" name="mobil.css név"/>
          <p:cNvSpPr txBox="1"/>
          <p:nvPr/>
        </p:nvSpPr>
        <p:spPr>
          <a:xfrm>
            <a:off x="1737360" y="1600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mobil.css</a:t>
            </a:r>
            <a:endParaRPr lang="en-US" sz="1800" dirty="0"/>
          </a:p>
        </p:txBody>
      </p:sp>
      <p:sp>
        <p:nvSpPr>
          <p:cNvPr id="7" name="mobil.css leírás"/>
          <p:cNvSpPr txBox="1"/>
          <p:nvPr/>
        </p:nvSpPr>
        <p:spPr>
          <a:xfrm>
            <a:off x="914400" y="23774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mobilos nézet stílusai</a:t>
            </a:r>
            <a:endParaRPr lang="en-US" sz="1400" dirty="0"/>
          </a:p>
        </p:txBody>
      </p:sp>
      <p:sp>
        <p:nvSpPr>
          <p:cNvPr id="8" name="Különböző effektusok kártya"/>
          <p:cNvSpPr/>
          <p:nvPr/>
        </p:nvSpPr>
        <p:spPr>
          <a:xfrm>
            <a:off x="4366260" y="1371600"/>
            <a:ext cx="3456432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9" name="Különböző effektusok ikon kör"/>
          <p:cNvSpPr/>
          <p:nvPr/>
        </p:nvSpPr>
        <p:spPr>
          <a:xfrm>
            <a:off x="4640580" y="1600200"/>
            <a:ext cx="640080" cy="640080"/>
          </a:xfrm>
          <a:prstGeom prst="ellipse">
            <a:avLst/>
          </a:prstGeom>
          <a:solidFill>
            <a:srgbClr val="FF6B2C"/>
          </a:solidFill>
          <a:ln/>
        </p:spPr>
      </p:sp>
      <p:pic>
        <p:nvPicPr>
          <p:cNvPr id="10" name="Különböző effektusok ikon" descr="Különböző effektusok 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60220"/>
            <a:ext cx="320040" cy="320040"/>
          </a:xfrm>
          <a:prstGeom prst="rect">
            <a:avLst/>
          </a:prstGeom>
        </p:spPr>
      </p:pic>
      <p:sp>
        <p:nvSpPr>
          <p:cNvPr id="11" name="Különböző effektusok név"/>
          <p:cNvSpPr txBox="1"/>
          <p:nvPr/>
        </p:nvSpPr>
        <p:spPr>
          <a:xfrm>
            <a:off x="5463540" y="1600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Különböző effektusok</a:t>
            </a:r>
            <a:endParaRPr lang="en-US" sz="1800" dirty="0"/>
          </a:p>
        </p:txBody>
      </p:sp>
      <p:sp>
        <p:nvSpPr>
          <p:cNvPr id="12" name="Különböző effektusok leírás"/>
          <p:cNvSpPr txBox="1"/>
          <p:nvPr/>
        </p:nvSpPr>
        <p:spPr>
          <a:xfrm>
            <a:off x="4640580" y="23774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Vizuális hatások az oldalon</a:t>
            </a:r>
            <a:endParaRPr lang="en-US" sz="1400" dirty="0"/>
          </a:p>
        </p:txBody>
      </p:sp>
      <p:sp>
        <p:nvSpPr>
          <p:cNvPr id="13" name="AI kód külön fájlokban kártya"/>
          <p:cNvSpPr/>
          <p:nvPr/>
        </p:nvSpPr>
        <p:spPr>
          <a:xfrm>
            <a:off x="8092440" y="1371600"/>
            <a:ext cx="3456432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4" name="AI kód külön fájlokban ikon kör"/>
          <p:cNvSpPr/>
          <p:nvPr/>
        </p:nvSpPr>
        <p:spPr>
          <a:xfrm>
            <a:off x="8366760" y="1600200"/>
            <a:ext cx="640080" cy="640080"/>
          </a:xfrm>
          <a:prstGeom prst="ellipse">
            <a:avLst/>
          </a:prstGeom>
          <a:solidFill>
            <a:srgbClr val="3FA7D6"/>
          </a:solidFill>
          <a:ln/>
        </p:spPr>
      </p:sp>
      <p:pic>
        <p:nvPicPr>
          <p:cNvPr id="15" name="AI kód külön fájlokban ikon" descr="AI kód külön fájlokban 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1760220"/>
            <a:ext cx="320040" cy="320040"/>
          </a:xfrm>
          <a:prstGeom prst="rect">
            <a:avLst/>
          </a:prstGeom>
        </p:spPr>
      </p:pic>
      <p:sp>
        <p:nvSpPr>
          <p:cNvPr id="16" name="AI kód külön fájlokban név"/>
          <p:cNvSpPr txBox="1"/>
          <p:nvPr/>
        </p:nvSpPr>
        <p:spPr>
          <a:xfrm>
            <a:off x="9189720" y="1600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AI kód külön fájlokban</a:t>
            </a:r>
            <a:endParaRPr lang="en-US" sz="1800" dirty="0"/>
          </a:p>
        </p:txBody>
      </p:sp>
      <p:sp>
        <p:nvSpPr>
          <p:cNvPr id="17" name="AI kód külön fájlokban leírás"/>
          <p:cNvSpPr txBox="1"/>
          <p:nvPr/>
        </p:nvSpPr>
        <p:spPr>
          <a:xfrm>
            <a:off x="8366760" y="23774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Az AI által írt kódot AI nevű fájlokban tüntettük fel</a:t>
            </a:r>
            <a:endParaRPr lang="en-US" sz="1400" dirty="0"/>
          </a:p>
        </p:txBody>
      </p:sp>
      <p:sp>
        <p:nvSpPr>
          <p:cNvPr id="18" name="Kód diagram kártya"/>
          <p:cNvSpPr/>
          <p:nvPr/>
        </p:nvSpPr>
        <p:spPr>
          <a:xfrm>
            <a:off x="640080" y="3611880"/>
            <a:ext cx="10908792" cy="25603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graphicFrame>
        <p:nvGraphicFramePr>
          <p:cNvPr id="19" name="Saját kód és AI diagram" descr=""/>
          <p:cNvGraphicFramePr/>
          <p:nvPr/>
        </p:nvGraphicFramePr>
        <p:xfrm>
          <a:off x="777240" y="3657600"/>
          <a:ext cx="10634472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Csapatmunka tapasztalatai</a:t>
            </a:r>
            <a:endParaRPr lang="en-US" sz="3600" dirty="0"/>
          </a:p>
        </p:txBody>
      </p:sp>
      <p:sp>
        <p:nvSpPr>
          <p:cNvPr id="3" name="Állítás 1 kártya"/>
          <p:cNvSpPr/>
          <p:nvPr/>
        </p:nvSpPr>
        <p:spPr>
          <a:xfrm>
            <a:off x="640080" y="1554480"/>
            <a:ext cx="66751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4" name="Állítás 1 ikon kör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C8F031"/>
          </a:solidFill>
          <a:ln/>
        </p:spPr>
      </p:sp>
      <p:pic>
        <p:nvPicPr>
          <p:cNvPr id="5" name="Állítás 1 ikon" descr="Állítás 1 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97380"/>
            <a:ext cx="320040" cy="320040"/>
          </a:xfrm>
          <a:prstGeom prst="rect">
            <a:avLst/>
          </a:prstGeom>
        </p:spPr>
      </p:pic>
      <p:sp>
        <p:nvSpPr>
          <p:cNvPr id="6" name="Állítás 1"/>
          <p:cNvSpPr txBox="1"/>
          <p:nvPr/>
        </p:nvSpPr>
        <p:spPr>
          <a:xfrm>
            <a:off x="1828800" y="164592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Ebben a felosztásban még nem dolgoztunk együtt korábban.</a:t>
            </a:r>
            <a:endParaRPr lang="en-US" sz="1800" dirty="0"/>
          </a:p>
        </p:txBody>
      </p:sp>
      <p:sp>
        <p:nvSpPr>
          <p:cNvPr id="7" name="Állítás 2 kártya"/>
          <p:cNvSpPr/>
          <p:nvPr/>
        </p:nvSpPr>
        <p:spPr>
          <a:xfrm>
            <a:off x="640080" y="2743200"/>
            <a:ext cx="66751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8" name="Állítás 2 ikon kör"/>
          <p:cNvSpPr/>
          <p:nvPr/>
        </p:nvSpPr>
        <p:spPr>
          <a:xfrm>
            <a:off x="914400" y="2926080"/>
            <a:ext cx="640080" cy="640080"/>
          </a:xfrm>
          <a:prstGeom prst="ellipse">
            <a:avLst/>
          </a:prstGeom>
          <a:solidFill>
            <a:srgbClr val="C8F031"/>
          </a:solidFill>
          <a:ln/>
        </p:spPr>
      </p:sp>
      <p:pic>
        <p:nvPicPr>
          <p:cNvPr id="9" name="Állítás 2 ikon" descr="Állítás 2 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086100"/>
            <a:ext cx="320040" cy="320040"/>
          </a:xfrm>
          <a:prstGeom prst="rect">
            <a:avLst/>
          </a:prstGeom>
        </p:spPr>
      </p:pic>
      <p:sp>
        <p:nvSpPr>
          <p:cNvPr id="10" name="Állítás 2"/>
          <p:cNvSpPr txBox="1"/>
          <p:nvPr/>
        </p:nvSpPr>
        <p:spPr>
          <a:xfrm>
            <a:off x="1828800" y="28346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Egyből megtaláltuk a közös hangot egymással.</a:t>
            </a:r>
            <a:endParaRPr lang="en-US" sz="1800" dirty="0"/>
          </a:p>
        </p:txBody>
      </p:sp>
      <p:sp>
        <p:nvSpPr>
          <p:cNvPr id="11" name="Állítás 3 kártya"/>
          <p:cNvSpPr/>
          <p:nvPr/>
        </p:nvSpPr>
        <p:spPr>
          <a:xfrm>
            <a:off x="640080" y="3931920"/>
            <a:ext cx="66751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2" name="Állítás 3 ikon kör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C8F031"/>
          </a:solidFill>
          <a:ln/>
        </p:spPr>
      </p:sp>
      <p:pic>
        <p:nvPicPr>
          <p:cNvPr id="13" name="Állítás 3 ikon" descr="Állítás 3 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274820"/>
            <a:ext cx="320040" cy="320040"/>
          </a:xfrm>
          <a:prstGeom prst="rect">
            <a:avLst/>
          </a:prstGeom>
        </p:spPr>
      </p:pic>
      <p:sp>
        <p:nvSpPr>
          <p:cNvPr id="14" name="Állítás 3"/>
          <p:cNvSpPr txBox="1"/>
          <p:nvPr/>
        </p:nvSpPr>
        <p:spPr>
          <a:xfrm>
            <a:off x="1828800" y="402336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Mindketten adtunk ötleteket, és ezeket közösen építettük be az oldalba.</a:t>
            </a:r>
            <a:endParaRPr lang="en-US" sz="1800" dirty="0"/>
          </a:p>
        </p:txBody>
      </p:sp>
      <p:sp>
        <p:nvSpPr>
          <p:cNvPr id="15" name="Állítás 4 kártya"/>
          <p:cNvSpPr/>
          <p:nvPr/>
        </p:nvSpPr>
        <p:spPr>
          <a:xfrm>
            <a:off x="640080" y="5120640"/>
            <a:ext cx="667512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6" name="Állítás 4 ikon kör"/>
          <p:cNvSpPr/>
          <p:nvPr/>
        </p:nvSpPr>
        <p:spPr>
          <a:xfrm>
            <a:off x="914400" y="5303520"/>
            <a:ext cx="640080" cy="640080"/>
          </a:xfrm>
          <a:prstGeom prst="ellipse">
            <a:avLst/>
          </a:prstGeom>
          <a:solidFill>
            <a:srgbClr val="C8F031"/>
          </a:solidFill>
          <a:ln/>
        </p:spPr>
      </p:sp>
      <p:pic>
        <p:nvPicPr>
          <p:cNvPr id="17" name="Állítás 4 ikon" descr="Állítás 4 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5463540"/>
            <a:ext cx="320040" cy="320040"/>
          </a:xfrm>
          <a:prstGeom prst="rect">
            <a:avLst/>
          </a:prstGeom>
        </p:spPr>
      </p:pic>
      <p:sp>
        <p:nvSpPr>
          <p:cNvPr id="18" name="Állítás 4"/>
          <p:cNvSpPr txBox="1"/>
          <p:nvPr/>
        </p:nvSpPr>
        <p:spPr>
          <a:xfrm>
            <a:off x="1828800" y="521208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munka zökkenők nélkül, hibátlanul ment.</a:t>
            </a:r>
            <a:endParaRPr lang="en-US" sz="1800" dirty="0"/>
          </a:p>
        </p:txBody>
      </p:sp>
      <p:sp>
        <p:nvSpPr>
          <p:cNvPr id="19" name="Kifejezések panel"/>
          <p:cNvSpPr/>
          <p:nvPr/>
        </p:nvSpPr>
        <p:spPr>
          <a:xfrm>
            <a:off x="7589520" y="1554480"/>
            <a:ext cx="3959352" cy="4572000"/>
          </a:xfrm>
          <a:prstGeom prst="roundRect">
            <a:avLst>
              <a:gd name="adj" fmla="val 2771"/>
            </a:avLst>
          </a:prstGeom>
          <a:solidFill>
            <a:schemeClr val="tx2"/>
          </a:solidFill>
          <a:ln/>
        </p:spPr>
      </p:sp>
      <p:sp>
        <p:nvSpPr>
          <p:cNvPr id="20" name="Kifejezések cím"/>
          <p:cNvSpPr txBox="1"/>
          <p:nvPr/>
        </p:nvSpPr>
        <p:spPr>
          <a:xfrm>
            <a:off x="7909560" y="178308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Kiemelt kifejezések</a:t>
            </a:r>
            <a:endParaRPr lang="en-US" sz="2000" dirty="0"/>
          </a:p>
        </p:txBody>
      </p:sp>
      <p:sp>
        <p:nvSpPr>
          <p:cNvPr id="21" name="Kifejezés pirula 1"/>
          <p:cNvSpPr/>
          <p:nvPr/>
        </p:nvSpPr>
        <p:spPr>
          <a:xfrm>
            <a:off x="7909560" y="2468880"/>
            <a:ext cx="3319272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Kifejezés 1"/>
          <p:cNvSpPr txBox="1"/>
          <p:nvPr/>
        </p:nvSpPr>
        <p:spPr>
          <a:xfrm>
            <a:off x="7909560" y="2468880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Első alkalom</a:t>
            </a:r>
            <a:endParaRPr lang="en-US" sz="1800" dirty="0"/>
          </a:p>
        </p:txBody>
      </p:sp>
      <p:sp>
        <p:nvSpPr>
          <p:cNvPr id="23" name="Kifejezés pirula 2"/>
          <p:cNvSpPr/>
          <p:nvPr/>
        </p:nvSpPr>
        <p:spPr>
          <a:xfrm>
            <a:off x="7909560" y="3182112"/>
            <a:ext cx="3319272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4" name="Kifejezés 2"/>
          <p:cNvSpPr txBox="1"/>
          <p:nvPr/>
        </p:nvSpPr>
        <p:spPr>
          <a:xfrm>
            <a:off x="7909560" y="3182112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Közös hang</a:t>
            </a:r>
            <a:endParaRPr lang="en-US" sz="1800" dirty="0"/>
          </a:p>
        </p:txBody>
      </p:sp>
      <p:sp>
        <p:nvSpPr>
          <p:cNvPr id="25" name="Kifejezés pirula 3"/>
          <p:cNvSpPr/>
          <p:nvPr/>
        </p:nvSpPr>
        <p:spPr>
          <a:xfrm>
            <a:off x="7909560" y="3895344"/>
            <a:ext cx="3319272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Kifejezés 3"/>
          <p:cNvSpPr txBox="1"/>
          <p:nvPr/>
        </p:nvSpPr>
        <p:spPr>
          <a:xfrm>
            <a:off x="7909560" y="3895344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Hibátlan menet</a:t>
            </a:r>
            <a:endParaRPr lang="en-US" sz="1800" dirty="0"/>
          </a:p>
        </p:txBody>
      </p:sp>
      <p:sp>
        <p:nvSpPr>
          <p:cNvPr id="27" name="Kifejezés pirula 4"/>
          <p:cNvSpPr/>
          <p:nvPr/>
        </p:nvSpPr>
        <p:spPr>
          <a:xfrm>
            <a:off x="7909560" y="4608576"/>
            <a:ext cx="3319272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8" name="Kifejezés 4"/>
          <p:cNvSpPr txBox="1"/>
          <p:nvPr/>
        </p:nvSpPr>
        <p:spPr>
          <a:xfrm>
            <a:off x="7909560" y="4608576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Ötletek</a:t>
            </a:r>
            <a:endParaRPr lang="en-US" sz="1800" dirty="0"/>
          </a:p>
        </p:txBody>
      </p:sp>
      <p:sp>
        <p:nvSpPr>
          <p:cNvPr id="29" name="Kifejezés pirula 5"/>
          <p:cNvSpPr/>
          <p:nvPr/>
        </p:nvSpPr>
        <p:spPr>
          <a:xfrm>
            <a:off x="7909560" y="5321808"/>
            <a:ext cx="3319272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Kifejezés 5"/>
          <p:cNvSpPr txBox="1"/>
          <p:nvPr/>
        </p:nvSpPr>
        <p:spPr>
          <a:xfrm>
            <a:off x="7909560" y="5321808"/>
            <a:ext cx="3319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Csapat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Egységtesztek</a:t>
            </a:r>
            <a:endParaRPr lang="en-US" sz="3600" dirty="0"/>
          </a:p>
        </p:txBody>
      </p:sp>
      <p:sp>
        <p:nvSpPr>
          <p:cNvPr id="3" name="Alcím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Először próbáltuk ki, hogy nem a saját, hanem egy általunk nem írt osztályt tesztelünk. Simán ment.</a:t>
            </a:r>
            <a:endParaRPr lang="en-US" sz="1600" dirty="0"/>
          </a:p>
        </p:txBody>
      </p:sp>
      <p:sp>
        <p:nvSpPr>
          <p:cNvPr id="4" name="Milán osztálya kártya"/>
          <p:cNvSpPr/>
          <p:nvPr/>
        </p:nvSpPr>
        <p:spPr>
          <a:xfrm>
            <a:off x="640080" y="1920240"/>
            <a:ext cx="530352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/>
        </p:spPr>
      </p:sp>
      <p:sp>
        <p:nvSpPr>
          <p:cNvPr id="5" name="Milán osztálya cím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Milán osztálya</a:t>
            </a:r>
            <a:endParaRPr lang="en-US" sz="2400" dirty="0"/>
          </a:p>
        </p:txBody>
      </p:sp>
      <p:sp>
        <p:nvSpPr>
          <p:cNvPr id="6" name="Milán osztálya szám"/>
          <p:cNvSpPr txBox="1"/>
          <p:nvPr/>
        </p:nvSpPr>
        <p:spPr>
          <a:xfrm>
            <a:off x="1005840" y="28346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8F031"/>
                </a:solidFill>
              </a:rPr>
              <a:t>1×</a:t>
            </a:r>
            <a:endParaRPr lang="en-US" sz="8000" dirty="0"/>
          </a:p>
        </p:txBody>
      </p:sp>
      <p:sp>
        <p:nvSpPr>
          <p:cNvPr id="7" name="Milán osztálya leírás"/>
          <p:cNvSpPr txBox="1"/>
          <p:nvPr/>
        </p:nvSpPr>
        <p:spPr>
          <a:xfrm>
            <a:off x="3108960" y="28346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Vincze egyszer tesztelte, és nem talált benne hibát.</a:t>
            </a:r>
            <a:endParaRPr lang="en-US" sz="1800" dirty="0"/>
          </a:p>
        </p:txBody>
      </p:sp>
      <p:sp>
        <p:nvSpPr>
          <p:cNvPr id="8" name="Vincze osztálya kártya"/>
          <p:cNvSpPr/>
          <p:nvPr/>
        </p:nvSpPr>
        <p:spPr>
          <a:xfrm>
            <a:off x="6245352" y="1920240"/>
            <a:ext cx="530352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/>
        </p:spPr>
      </p:sp>
      <p:sp>
        <p:nvSpPr>
          <p:cNvPr id="9" name="Vincze osztálya cím"/>
          <p:cNvSpPr txBox="1"/>
          <p:nvPr/>
        </p:nvSpPr>
        <p:spPr>
          <a:xfrm>
            <a:off x="6611112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Vincze osztálya</a:t>
            </a:r>
            <a:endParaRPr lang="en-US" sz="2400" dirty="0"/>
          </a:p>
        </p:txBody>
      </p:sp>
      <p:sp>
        <p:nvSpPr>
          <p:cNvPr id="10" name="Vincze osztálya szám"/>
          <p:cNvSpPr txBox="1"/>
          <p:nvPr/>
        </p:nvSpPr>
        <p:spPr>
          <a:xfrm>
            <a:off x="6611112" y="28346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6B2C"/>
                </a:solidFill>
              </a:rPr>
              <a:t>2×</a:t>
            </a:r>
            <a:endParaRPr lang="en-US" sz="8000" dirty="0"/>
          </a:p>
        </p:txBody>
      </p:sp>
      <p:sp>
        <p:nvSpPr>
          <p:cNvPr id="11" name="Vincze osztálya leírás"/>
          <p:cNvSpPr txBox="1"/>
          <p:nvPr/>
        </p:nvSpPr>
        <p:spPr>
          <a:xfrm>
            <a:off x="8714232" y="28346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Kétszer kellett tesztelni: az első körben hiba volt, de Vincze azonnal javította.</a:t>
            </a:r>
            <a:endParaRPr lang="en-US" sz="1800" dirty="0"/>
          </a:p>
        </p:txBody>
      </p:sp>
      <p:sp>
        <p:nvSpPr>
          <p:cNvPr id="12" name="Összegzés sáv"/>
          <p:cNvSpPr/>
          <p:nvPr/>
        </p:nvSpPr>
        <p:spPr>
          <a:xfrm>
            <a:off x="640080" y="5074920"/>
            <a:ext cx="10908792" cy="1005840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/>
        </p:spPr>
      </p:sp>
      <p:pic>
        <p:nvPicPr>
          <p:cNvPr id="13" name="Szem ikon" descr="Szem 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349240"/>
            <a:ext cx="457200" cy="457200"/>
          </a:xfrm>
          <a:prstGeom prst="rect">
            <a:avLst/>
          </a:prstGeom>
        </p:spPr>
      </p:pic>
      <p:sp>
        <p:nvSpPr>
          <p:cNvPr id="14" name="Összegzés szöveg"/>
          <p:cNvSpPr txBox="1"/>
          <p:nvPr/>
        </p:nvSpPr>
        <p:spPr>
          <a:xfrm>
            <a:off x="1737360" y="507492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Kívülről, új szemmel néztük a társunk kódját.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29184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KÖSZÖNJÜK A FIGYELMET!</a:t>
            </a:r>
            <a:endParaRPr lang="en-US" sz="5400" dirty="0"/>
          </a:p>
        </p:txBody>
      </p:sp>
      <p:sp>
        <p:nvSpPr>
          <p:cNvPr id="3" name="Súlyzó kör"/>
          <p:cNvSpPr/>
          <p:nvPr/>
        </p:nvSpPr>
        <p:spPr>
          <a:xfrm>
            <a:off x="5367528" y="1554480"/>
            <a:ext cx="1463040" cy="1463040"/>
          </a:xfrm>
          <a:prstGeom prst="ellipse">
            <a:avLst/>
          </a:prstGeom>
          <a:solidFill>
            <a:srgbClr val="C8F031"/>
          </a:solidFill>
          <a:ln/>
        </p:spPr>
      </p:sp>
      <p:pic>
        <p:nvPicPr>
          <p:cNvPr id="4" name="Súlyzó" descr="Súlyz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288" y="19202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litt Fitness">
  <a:themeElements>
    <a:clrScheme name="Elitt Fitness">
      <a:dk1>
        <a:srgbClr val="14171C"/>
      </a:dk1>
      <a:lt1>
        <a:srgbClr val="FFFFFF"/>
      </a:lt1>
      <a:dk2>
        <a:srgbClr val="22262E"/>
      </a:dk2>
      <a:lt2>
        <a:srgbClr val="B8BFCA"/>
      </a:lt2>
      <a:accent1>
        <a:srgbClr val="C8F031"/>
      </a:accent1>
      <a:accent2>
        <a:srgbClr val="FF6B2C"/>
      </a:accent2>
      <a:accent3>
        <a:srgbClr val="3FA7D6"/>
      </a:accent3>
      <a:accent4>
        <a:srgbClr val="8A94A6"/>
      </a:accent4>
      <a:accent5>
        <a:srgbClr val="E5484D"/>
      </a:accent5>
      <a:accent6>
        <a:srgbClr val="7ED957"/>
      </a:accent6>
      <a:hlink>
        <a:srgbClr val="3FA7D6"/>
      </a:hlink>
      <a:folHlink>
        <a:srgbClr val="8A94A6"/>
      </a:folHlink>
    </a:clrScheme>
    <a:fontScheme name="Elitt Fitnes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 Elitt Fitness</dc:title>
  <dc:subject>PptxGenJS Presentation</dc:subject>
  <dc:creator>Molnár Milán, Vincze Ádám</dc:creator>
  <cp:lastModifiedBy>Molnár Milán, Vincze Ádám</cp:lastModifiedBy>
  <cp:revision>1</cp:revision>
  <dcterms:created xsi:type="dcterms:W3CDTF">2026-10-13T11:43:31Z</dcterms:created>
  <dcterms:modified xsi:type="dcterms:W3CDTF">2026-10-13T11:43:31Z</dcterms:modified>
</cp:coreProperties>
</file>